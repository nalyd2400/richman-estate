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facade_n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02920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097280"/>
            <a:ext cx="5303520" cy="50292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2560320" cy="36576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D12"/>
                </a:solidFill>
              </a:defRPr>
            </a:pPr>
            <a:r>
              <a:t>PROJET LÉGAL 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RICHMAN ESTATE</a:t>
            </a:r>
          </a:p>
          <a:p>
            <a:pPr>
              <a:spcBef>
                <a:spcPts val="800"/>
              </a:spcBef>
              <a:defRPr sz="1300">
                <a:solidFill>
                  <a:srgbClr val="F5D76E"/>
                </a:solidFill>
              </a:defRPr>
            </a:pPr>
            <a:r>
              <a:t>Hôtellerie de Prestige • Supercars • Événementiel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D4AF37"/>
                </a:solidFill>
              </a:defRPr>
            </a:pPr>
            <a:r>
              <a:t>Localisation : </a:t>
            </a:r>
            <a:r>
              <a:rPr sz="1100" b="0">
                <a:solidFill>
                  <a:srgbClr val="F8FAFC"/>
                </a:solidFill>
              </a:rPr>
              <a:t>Manoir de Richman (Richman Hills)</a:t>
            </a:r>
          </a:p>
          <a:p>
            <a:pPr>
              <a:spcBef>
                <a:spcPts val="300"/>
              </a:spcBef>
              <a:defRPr sz="1100" b="1">
                <a:solidFill>
                  <a:srgbClr val="D4AF37"/>
                </a:solidFill>
              </a:defRPr>
            </a:pPr>
            <a:r>
              <a:t>Direction : </a:t>
            </a:r>
            <a:r>
              <a:rPr sz="1100" b="0">
                <a:solidFill>
                  <a:srgbClr val="F8FAFC"/>
                </a:solidFill>
              </a:rPr>
              <a:t>Antonio Depresto (#3932) &amp; Alex Breacker (#4526)</a:t>
            </a:r>
          </a:p>
          <a:p>
            <a:pPr>
              <a:spcBef>
                <a:spcPts val="300"/>
              </a:spcBef>
              <a:defRPr sz="1100" b="1">
                <a:solidFill>
                  <a:srgbClr val="D4AF37"/>
                </a:solidFill>
              </a:defRPr>
            </a:pPr>
            <a:r>
              <a:t>Site Web : </a:t>
            </a:r>
            <a:r>
              <a:rPr sz="1100" b="0">
                <a:solidFill>
                  <a:srgbClr val="F8FAFC"/>
                </a:solidFill>
              </a:rPr>
              <a:t>https://richman-estate.vercel.app/</a:t>
            </a:r>
          </a:p>
          <a:p>
            <a:pPr>
              <a:spcBef>
                <a:spcPts val="300"/>
              </a:spcBef>
              <a:defRPr sz="1100" b="1">
                <a:solidFill>
                  <a:srgbClr val="D4AF37"/>
                </a:solidFill>
              </a:defRPr>
            </a:pPr>
            <a:r>
              <a:t>Discord : </a:t>
            </a:r>
            <a:r>
              <a:rPr sz="1100" b="0">
                <a:solidFill>
                  <a:srgbClr val="F8FAFC"/>
                </a:solidFill>
              </a:rPr>
              <a:t>https://discord.gg/bdJhGdP3t9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Histoire Roleplay &amp; Continuité du Domaine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1. LES ORIGINES (GENESIS)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Le domaine de Richman et le Golf Club sont des repères historiques pour Antonio Depresto et Alex Breacker.</a:t>
            </a:r>
            <a:br/>
            <a:br/>
            <a:r>
              <a:t>À l'époque, Antonio était employé chez Genesis Security, alors basée au Manoir de Richman. À sa fermeture, Alex Breacker a racheté l'ensemble de la flotte de sécurité et les droits pour y implanter Spartan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288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2. L'ÈRE SPARTAN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5603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Antonio intègre Spartan Security auprès d'Alex. Grâce à sa rigueur et sa parfaite maîtrise du terrain, il devient rapidement cadre au sein de l'équipe d'une vingtaine d'agents.</a:t>
            </a:r>
            <a:br/>
            <a:br/>
            <a:r>
              <a:t>Le Manoir de Richman a été leur quartier général et le centre névralgique de leurs opérations pendant de longs mois.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8288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3. RENAISSANCE : RICHMAN 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5603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Après la restitution temporaire du domaine à l'État, Antonio et Alex s'associent d'égal à égal pour donner une nouvelle vie civile au domaine.</a:t>
            </a:r>
            <a:br/>
            <a:br/>
            <a:r>
              <a:t>Ils fondent Richman Estate : un complexe hôtelier prestigieux combiné à la mise en location de leur collection privée de supercars rarissimes.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Description de l’Entreprise &amp; Services Proposés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HÔTELLERIE &amp; RÉSIDENCES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Nuitées en chambres prestige &amp; suites exécutives</a:t>
            </a:r>
            <a:br/>
            <a:r>
              <a:t>• Accès complet aux infrastructures de détente : piscine, courts de tennis, espaces lounges</a:t>
            </a:r>
            <a:br/>
            <a:r>
              <a:t>• Service de conciergerie et séjour d'affaires ou de villégiature pour les citoyens d'élite.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288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LOCATION DE SUPERCARS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65176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Mise à disposition exclusive de supercars et sportives rares de collection</a:t>
            </a:r>
            <a:br/>
            <a:r>
              <a:t>• Véhicules dédiés aux cérémonies, mariages, tournages ou sorties d'exception</a:t>
            </a:r>
            <a:br/>
            <a:r>
              <a:t>• Encadrement 100% RP : contrat officiel, vérification du permis, caution obligatoire.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82880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ÉVÉNEMENTIEL &amp; RÉCEPTIONS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65176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Privatisation totale ou partielle du domaine pour galas, mariages et séminaires d'entreprises</a:t>
            </a:r>
            <a:br/>
            <a:r>
              <a:t>• Organisation de réceptions publiques exclusives (soirées lounge, expositions automobiles)</a:t>
            </a:r>
            <a:br/>
            <a:r>
              <a:t>• Partenariats institutionnels avec le Gouvernement et la Justice.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Flotte Automobile d'Exception &amp; Encadrement RP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CATALOGUE DE LA FLOTTE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D76E"/>
                </a:solidFill>
              </a:defRPr>
            </a:pPr>
            <a:r>
              <a:t>🏎️ Supercars de Collection Privée 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Benefactor Krieger — Hypercar allemande de prestige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Grotti Furia — Élégance et sonorité italienne pure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Principe Deveste Eight — Design futuriste d'exception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</a:p>
          <a:p>
            <a:pPr>
              <a:defRPr sz="1100" b="1">
                <a:solidFill>
                  <a:srgbClr val="F5D76E"/>
                </a:solidFill>
              </a:defRPr>
            </a:pPr>
            <a:r>
              <a:t>🚘 Berlines &amp; Véhicules d'Honneur 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Enus Super Diamond — Luxe britannique pour cortèges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Gallivanter Baller LWB — Confort SUV haut standing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GESTION 100% RP DE LA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 b="1">
                <a:solidFill>
                  <a:srgbClr val="D4AF37"/>
                </a:solidFill>
              </a:defRPr>
            </a:pPr>
            <a:r>
              <a:t>✓ Propriété légitime : </a:t>
            </a:r>
            <a:r>
              <a:rPr sz="1100" b="0">
                <a:solidFill>
                  <a:srgbClr val="F8FAFC"/>
                </a:solidFill>
              </a:rPr>
              <a:t>Tous les véhicules sont déjà acquis légalement par les gérants ou achetés via les concessions du serveur.</a:t>
            </a:r>
          </a:p>
          <a:p>
            <a:pPr>
              <a:spcBef>
                <a:spcPts val="400"/>
              </a:spcBef>
              <a:defRPr sz="1100" b="1">
                <a:solidFill>
                  <a:srgbClr val="D4AF37"/>
                </a:solidFill>
              </a:defRPr>
            </a:pPr>
            <a:r>
              <a:t>✓ Prêt de clés : </a:t>
            </a:r>
            <a:r>
              <a:rPr sz="1100" b="0">
                <a:solidFill>
                  <a:srgbClr val="F8FAFC"/>
                </a:solidFill>
              </a:rPr>
              <a:t>Effectué directement via les commandes de base du serveur (/donnercle, /givekey ou échange direct).</a:t>
            </a:r>
          </a:p>
          <a:p>
            <a:pPr>
              <a:spcBef>
                <a:spcPts val="400"/>
              </a:spcBef>
              <a:defRPr sz="1100" b="1">
                <a:solidFill>
                  <a:srgbClr val="D4AF37"/>
                </a:solidFill>
              </a:defRPr>
            </a:pPr>
            <a:r>
              <a:t>✓ Contrats &amp; Cautions : </a:t>
            </a:r>
            <a:r>
              <a:rPr sz="1100" b="0">
                <a:solidFill>
                  <a:srgbClr val="F8FAFC"/>
                </a:solidFill>
              </a:rPr>
              <a:t>Signature d'un contrat de location avec versement d'une caution obligatoire garantissant l'état du véhicule.</a:t>
            </a:r>
          </a:p>
          <a:p>
            <a:pPr>
              <a:spcBef>
                <a:spcPts val="400"/>
              </a:spcBef>
              <a:defRPr sz="1100" b="1">
                <a:solidFill>
                  <a:srgbClr val="D4AF37"/>
                </a:solidFill>
              </a:defRPr>
            </a:pPr>
            <a:r>
              <a:t>✓ Restitution : </a:t>
            </a:r>
            <a:r>
              <a:rPr sz="1100" b="0">
                <a:solidFill>
                  <a:srgbClr val="F8FAFC"/>
                </a:solidFill>
              </a:rPr>
              <a:t>État des lieux complet au retour et révocation des clés. En cas d'abus : dépôt de plainte RP et recours justice/police.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Grille Tarifaire des Services &amp; Prestations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HÉBERGEMENT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Chambre Prestige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1 500 $</a:t>
            </a:r>
            <a:r>
              <a:rPr sz="1000" b="0">
                <a:solidFill>
                  <a:srgbClr val="A0AEC0"/>
                </a:solidFill>
              </a:rPr>
              <a:t>  / nuitée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Suite Exécutive / Penthouse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3 500 $</a:t>
            </a:r>
            <a:r>
              <a:rPr sz="1000" b="0">
                <a:solidFill>
                  <a:srgbClr val="A0AEC0"/>
                </a:solidFill>
              </a:rPr>
              <a:t>  / nuitée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Accès Détente &amp; Piscine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500 $</a:t>
            </a:r>
            <a:r>
              <a:rPr sz="1000" b="0">
                <a:solidFill>
                  <a:srgbClr val="A0AEC0"/>
                </a:solidFill>
              </a:rPr>
              <a:t>  / personne /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2880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LOCATION VÉHICULES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46888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Location Supercar (Krieger/Furia)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5 000 $ à 8 000 $</a:t>
            </a:r>
            <a:r>
              <a:rPr sz="1000" b="0">
                <a:solidFill>
                  <a:srgbClr val="A0AEC0"/>
                </a:solidFill>
              </a:rPr>
              <a:t>  / jour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Caution Obligatoire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10 000 $ à 20 000 $</a:t>
            </a:r>
            <a:r>
              <a:rPr sz="1000" b="0">
                <a:solidFill>
                  <a:srgbClr val="A0AEC0"/>
                </a:solidFill>
              </a:rPr>
              <a:t>  (restituée au retour)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Option Chauffeur Privé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1 500 $</a:t>
            </a:r>
            <a:r>
              <a:rPr sz="1000" b="0">
                <a:solidFill>
                  <a:srgbClr val="A0AEC0"/>
                </a:solidFill>
              </a:rPr>
              <a:t>  / événement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828800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PRIVATISATION &amp; ÉVÉNEMENTS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46888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Privatisation Manoir (Soirée)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15 000 $ à 25 000 $</a:t>
            </a:r>
            <a:r>
              <a:rPr sz="1000" b="0">
                <a:solidFill>
                  <a:srgbClr val="A0AEC0"/>
                </a:solidFill>
              </a:rPr>
              <a:t>  / événement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Réception / Gala d'Entreprise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Sur Devis</a:t>
            </a:r>
            <a:r>
              <a:rPr sz="1000" b="0">
                <a:solidFill>
                  <a:srgbClr val="A0AEC0"/>
                </a:solidFill>
              </a:rPr>
              <a:t>  selon prestations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Shooting &amp; Tournage Photo/Vidéo</a:t>
            </a:r>
          </a:p>
          <a:p>
            <a:pPr>
              <a:defRPr sz="1300" b="1">
                <a:solidFill>
                  <a:srgbClr val="F5D76E"/>
                </a:solidFill>
              </a:defRPr>
            </a:pPr>
            <a:r>
              <a:t>3 000 $</a:t>
            </a:r>
            <a:r>
              <a:rPr sz="1000" b="0">
                <a:solidFill>
                  <a:srgbClr val="A0AEC0"/>
                </a:solidFill>
              </a:rPr>
              <a:t>  / demi-journée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Organigramme, Effectifs &amp; Code Vestimentaire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STRUCTURE DES EFFECTIFS (&lt; 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• Direction Générale : </a:t>
            </a:r>
            <a:r>
              <a:rPr sz="1100" b="0">
                <a:solidFill>
                  <a:srgbClr val="F8FAFC"/>
                </a:solidFill>
              </a:rPr>
              <a:t>PDG Antonio Depresto (#3932) &amp; Co-PDG Alex Breacker (#4526)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• Pôle Hôtellerie : </a:t>
            </a:r>
            <a:r>
              <a:rPr sz="1100" b="0">
                <a:solidFill>
                  <a:srgbClr val="F8FAFC"/>
                </a:solidFill>
              </a:rPr>
              <a:t>1x Responsable Accueil + 2x Réceptionnistes / Intendance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• Pôle Flotte : </a:t>
            </a:r>
            <a:r>
              <a:rPr sz="1100" b="0">
                <a:solidFill>
                  <a:srgbClr val="F8FAFC"/>
                </a:solidFill>
              </a:rPr>
              <a:t>1x Responsable Flotte + 2x Préparateurs / Contrôleurs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• Pôle Événementiel : </a:t>
            </a:r>
            <a:r>
              <a:rPr sz="1100" b="0">
                <a:solidFill>
                  <a:srgbClr val="F8FAFC"/>
                </a:solidFill>
              </a:rPr>
              <a:t>1x Chargé d'Événements &amp; Relations Publiques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• Recrutement RP : </a:t>
            </a:r>
            <a:r>
              <a:rPr sz="1100" b="0">
                <a:solidFill>
                  <a:srgbClr val="F8FAFC"/>
                </a:solidFill>
              </a:rPr>
              <a:t>Processus d'embauche sélectif avec contrat de travail 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CODE VESTIMENTAIRE (DRESS CODE)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👔 Direction :</a:t>
            </a:r>
            <a:br/>
            <a:r>
              <a:rPr sz="1100" b="0">
                <a:solidFill>
                  <a:srgbClr val="F8FAFC"/>
                </a:solidFill>
              </a:rPr>
              <a:t>Costumes 3 pièces sur-mesure, montres de luxe, tenues de cérémonie.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🤵 Accueil &amp; Réception :</a:t>
            </a:r>
            <a:br/>
            <a:r>
              <a:rPr sz="1100" b="0">
                <a:solidFill>
                  <a:srgbClr val="F8FAFC"/>
                </a:solidFill>
              </a:rPr>
              <a:t>Costumes noirs cintrés, chemises blanches, cravates ou nœuds papillon soignés.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🚗 Pôle Flotte &amp; Service :</a:t>
            </a:r>
            <a:br/>
            <a:r>
              <a:rPr sz="1100" b="0">
                <a:solidFill>
                  <a:srgbClr val="F8FAFC"/>
                </a:solidFill>
              </a:rPr>
              <a:t>Chemises blanches élégantes, gilets de service noirs, pantalons habillés.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🌟 Cohérence visuelle :</a:t>
            </a:r>
            <a:br/>
            <a:r>
              <a:rPr sz="1100" b="0">
                <a:solidFill>
                  <a:srgbClr val="F8FAFC"/>
                </a:solidFill>
              </a:rPr>
              <a:t>Tenues toujours impeccables reflétant le prestige et l'exclusivité du domaine.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Objectifs Court/Long Terme &amp; Synergies RP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OBJECTIFS DE DÉVELOPPEMENT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200" b="1">
                <a:solidFill>
                  <a:srgbClr val="F5D76E"/>
                </a:solidFill>
              </a:defRPr>
            </a:pPr>
            <a:r>
              <a:t>Court terme :</a:t>
            </a:r>
            <a:br/>
            <a:r>
              <a:rPr sz="1000" b="0">
                <a:solidFill>
                  <a:srgbClr val="F8FAFC"/>
                </a:solidFill>
              </a:rPr>
              <a:t>• Réalisation de la scène RP d'achat avec le Gouvernement
• Mise en service du parc de supercars et contrats types
• Recrutement et formation de l'équipe de réception
• Grande soirée d'inauguration avec exposition automobile</a:t>
            </a:r>
          </a:p>
          <a:p>
            <a:pPr>
              <a:spcBef>
                <a:spcPts val="500"/>
              </a:spcBef>
              <a:defRPr sz="1200" b="1">
                <a:solidFill>
                  <a:srgbClr val="F5D76E"/>
                </a:solidFill>
              </a:defRPr>
            </a:pPr>
            <a:r>
              <a:t>Long terme :</a:t>
            </a:r>
            <a:br/>
            <a:r>
              <a:rPr sz="1000" b="0">
                <a:solidFill>
                  <a:srgbClr val="F8FAFC"/>
                </a:solidFill>
              </a:rPr>
              <a:t>• Devenir le pôle d'hôtellerie de luxe incontournable de Los Santos
• Contrats réguliers de privatisation avec les institutions &amp; entreprises
• Concours d'élégance et rassemblements de supercars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SYNERGIES &amp; INTERACTIONS EN 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🏛️ Gouvernement &amp; Justice : </a:t>
            </a:r>
            <a:r>
              <a:rPr sz="1000" b="0">
                <a:solidFill>
                  <a:srgbClr val="F8FAFC"/>
                </a:solidFill>
              </a:rPr>
              <a:t>Accueil des séminaires d'État, galas de charité et réceptions officielles.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🔧 Garages &amp; Concessions : </a:t>
            </a:r>
            <a:r>
              <a:rPr sz="1000" b="0">
                <a:solidFill>
                  <a:srgbClr val="F8FAFC"/>
                </a:solidFill>
              </a:rPr>
              <a:t>Contrats réguliers d'entretien complet, révisions et pneumatiques pour la flotte.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📰 Weazel News &amp; Médias : </a:t>
            </a:r>
            <a:r>
              <a:rPr sz="1000" b="0">
                <a:solidFill>
                  <a:srgbClr val="F8FAFC"/>
                </a:solidFill>
              </a:rPr>
              <a:t>Campagnes publicitaires, couverture des soirées mondaines et interviews.</a:t>
            </a:r>
          </a:p>
          <a:p>
            <a:pPr>
              <a:spcBef>
                <a:spcPts val="500"/>
              </a:spcBef>
              <a:defRPr sz="1100" b="1">
                <a:solidFill>
                  <a:srgbClr val="F5D76E"/>
                </a:solidFill>
              </a:defRPr>
            </a:pPr>
            <a:r>
              <a:t>🍸 Commerces &amp; Traiteurs : </a:t>
            </a:r>
            <a:r>
              <a:rPr sz="1000" b="0">
                <a:solidFill>
                  <a:srgbClr val="F8FAFC"/>
                </a:solidFill>
              </a:rPr>
              <a:t>Commandes locales régulières pour les buffets, bars et réceptions.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solidFill>
              <a:srgbClr val="0B0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RICHMAN ESTATE • DOSSIER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Engagements HRP &amp; Conformité au Règlement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D4AF37"/>
                </a:solidFill>
              </a:defRPr>
            </a:pPr>
            <a:r>
              <a:t>✅ 0 SCRIPT / 0 DÉVELOPPEMENT DEMANDÉ : </a:t>
            </a:r>
            <a:r>
              <a:rPr sz="1100" b="0">
                <a:solidFill>
                  <a:srgbClr val="F8FAFC"/>
                </a:solidFill>
              </a:rPr>
              <a:t>L'entreprise est 100% autonome et utilise uniquement les mécaniques natives du serveur (commandes de clés existantes, factures, virements bancaires, contrats RP).</a:t>
            </a:r>
          </a:p>
          <a:p>
            <a:pPr>
              <a:spcBef>
                <a:spcPts val="800"/>
              </a:spcBef>
              <a:defRPr sz="1100" b="1">
                <a:solidFill>
                  <a:srgbClr val="D4AF37"/>
                </a:solidFill>
              </a:defRPr>
            </a:pPr>
            <a:r>
              <a:t>✅ 0 MAPPING / 0 WHITELIST SPÉCIALE : </a:t>
            </a:r>
            <a:r>
              <a:rPr sz="1100" b="0">
                <a:solidFill>
                  <a:srgbClr val="F8FAFC"/>
                </a:solidFill>
              </a:rPr>
              <a:t>Le domaine sera exploité dans son état naturel sur la carte, sans aucune charge technique pour les équipes du serveur.</a:t>
            </a:r>
          </a:p>
          <a:p>
            <a:pPr>
              <a:spcBef>
                <a:spcPts val="800"/>
              </a:spcBef>
              <a:defRPr sz="1100" b="1">
                <a:solidFill>
                  <a:srgbClr val="D4AF37"/>
                </a:solidFill>
              </a:defRPr>
            </a:pPr>
            <a:r>
              <a:t>✅ 0 DEMANDE D'ARMES OU DE VÉHICULES DE SPAWN : </a:t>
            </a:r>
            <a:r>
              <a:rPr sz="1100" b="0">
                <a:solidFill>
                  <a:srgbClr val="F8FAFC"/>
                </a:solidFill>
              </a:rPr>
              <a:t>L'ensemble de la flotte de supercars et de berlines est issu des biens propres légitimes des gérants déjà enregistrés en ville.</a:t>
            </a:r>
          </a:p>
          <a:p>
            <a:pPr>
              <a:spcBef>
                <a:spcPts val="800"/>
              </a:spcBef>
              <a:defRPr sz="1100" b="1">
                <a:solidFill>
                  <a:srgbClr val="D4AF37"/>
                </a:solidFill>
              </a:defRPr>
            </a:pPr>
            <a:r>
              <a:t>✅ ACQUISITION DU LIEU EN SCÈNE RP : </a:t>
            </a:r>
            <a:r>
              <a:rPr sz="1100" b="0">
                <a:solidFill>
                  <a:srgbClr val="F8FAFC"/>
                </a:solidFill>
              </a:rPr>
              <a:t>L'accès au domaine sera négocié et acheté lors d'un rendez-vous RP officiel avec le Gouvernement de Los Santos.</a:t>
            </a:r>
          </a:p>
          <a:p>
            <a:pPr>
              <a:spcBef>
                <a:spcPts val="800"/>
              </a:spcBef>
              <a:defRPr sz="1100" b="1">
                <a:solidFill>
                  <a:srgbClr val="D4AF37"/>
                </a:solidFill>
              </a:defRPr>
            </a:pPr>
            <a:r>
              <a:t>✅ RESPECT STRICT DES QUOTAS : </a:t>
            </a:r>
            <a:r>
              <a:rPr sz="1100" b="0">
                <a:solidFill>
                  <a:srgbClr val="F8FAFC"/>
                </a:solidFill>
              </a:rPr>
              <a:t>Effectifs maintenus à taille humaine (&lt; 30 membres), axés sur la qualité du Roleplay, l'accueil et l'animation de la ville.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